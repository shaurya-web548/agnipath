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SemiCondensed Bold" charset="1" panose="00000806000000000000"/>
      <p:regular r:id="rId13"/>
    </p:embeddedFont>
    <p:embeddedFont>
      <p:font typeface="Antic Bold" charset="1" panose="00000000000000000000"/>
      <p:regular r:id="rId14"/>
    </p:embeddedFont>
    <p:embeddedFont>
      <p:font typeface="Barlow SemiCondensed Semi-Bold" charset="1" panose="00000706000000000000"/>
      <p:regular r:id="rId15"/>
    </p:embeddedFont>
    <p:embeddedFont>
      <p:font typeface="ITC Franklin Gothic LT Condensed" charset="1" panose="020B0506030503020204"/>
      <p:regular r:id="rId16"/>
    </p:embeddedFont>
    <p:embeddedFont>
      <p:font typeface="Barlow SemiCondensed" charset="1" panose="000005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114300" cap="sq">
              <a:gradFill>
                <a:gsLst>
                  <a:gs pos="0">
                    <a:srgbClr val="F9F2BC">
                      <a:alpha val="100000"/>
                    </a:srgbClr>
                  </a:gs>
                  <a:gs pos="100000">
                    <a:srgbClr val="CBA462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210841" y="1923904"/>
            <a:ext cx="8800835" cy="0"/>
          </a:xfrm>
          <a:prstGeom prst="line">
            <a:avLst/>
          </a:prstGeom>
          <a:ln cap="flat" w="19050">
            <a:solidFill>
              <a:srgbClr val="F9F2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720573" y="5528671"/>
            <a:ext cx="7389184" cy="4612434"/>
          </a:xfrm>
          <a:custGeom>
            <a:avLst/>
            <a:gdLst/>
            <a:ahLst/>
            <a:cxnLst/>
            <a:rect r="r" b="b" t="t" l="l"/>
            <a:pathLst>
              <a:path h="4612434" w="7389184">
                <a:moveTo>
                  <a:pt x="0" y="0"/>
                </a:moveTo>
                <a:lnTo>
                  <a:pt x="7389184" y="0"/>
                </a:lnTo>
                <a:lnTo>
                  <a:pt x="7389184" y="4612434"/>
                </a:lnTo>
                <a:lnTo>
                  <a:pt x="0" y="461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56" r="-292" b="-355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10841" y="-139781"/>
            <a:ext cx="7818881" cy="222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2"/>
              </a:lnSpc>
              <a:spcBef>
                <a:spcPct val="0"/>
              </a:spcBef>
            </a:pPr>
            <a:r>
              <a:rPr lang="en-US" b="true" sz="13001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AGNIPATH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3165" y="2019154"/>
            <a:ext cx="880083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24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Wind-driven spread prediction and dynamic evacuation planning interface for Residents and Authorities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841" y="7758688"/>
            <a:ext cx="7083519" cy="168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3"/>
              </a:lnSpc>
            </a:pPr>
            <a:r>
              <a:rPr lang="en-US" sz="3166" spc="31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Team Horsemen · CraftnCode 2026</a:t>
            </a:r>
          </a:p>
          <a:p>
            <a:pPr algn="l">
              <a:lnSpc>
                <a:spcPts val="4433"/>
              </a:lnSpc>
            </a:pPr>
            <a:r>
              <a:rPr lang="en-US" sz="3166" spc="31">
                <a:solidFill>
                  <a:srgbClr val="FFFFFF"/>
                </a:solidFill>
                <a:latin typeface="Antic Bold"/>
                <a:ea typeface="Antic Bold"/>
                <a:cs typeface="Antic Bold"/>
                <a:sym typeface="Antic Bold"/>
              </a:rPr>
              <a:t>Shaurya · Ishaan · Deepak · Yashaditya</a:t>
            </a:r>
          </a:p>
          <a:p>
            <a:pPr algn="l">
              <a:lnSpc>
                <a:spcPts val="443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359087" y="176068"/>
            <a:ext cx="5537057" cy="165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b="true" sz="234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 STATEMENT #1 — WILDFIRE SPREAD PREDICTION &amp; DYNAMIC EVACUATION ROUTING</a:t>
            </a:r>
          </a:p>
          <a:p>
            <a:pPr algn="ctr">
              <a:lnSpc>
                <a:spcPts val="3287"/>
              </a:lnSpc>
            </a:pPr>
          </a:p>
          <a:p>
            <a:pPr algn="ctr">
              <a:lnSpc>
                <a:spcPts val="3287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43165" y="3476591"/>
            <a:ext cx="8800835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 spc="3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</a:t>
            </a:r>
            <a:r>
              <a:rPr lang="en-US" b="true" sz="3099" spc="3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n April 2024, Uttarakhand recorded 5,710 forest fires , up from 585 the month before. Nainital district alone accounted for 1,524. Five people died.</a:t>
            </a:r>
          </a:p>
          <a:p>
            <a:pPr algn="just">
              <a:lnSpc>
                <a:spcPts val="4339"/>
              </a:lnSpc>
            </a:pPr>
            <a:r>
              <a:rPr lang="en-US" b="true" sz="3099" spc="3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The satellites saw every one of them. The people nearest didn't know which way to run. The gap is obvious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1830" y="3652118"/>
            <a:ext cx="5229027" cy="5785201"/>
            <a:chOff x="0" y="0"/>
            <a:chExt cx="1377192" cy="1523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192" cy="1523674"/>
            </a:xfrm>
            <a:custGeom>
              <a:avLst/>
              <a:gdLst/>
              <a:ahLst/>
              <a:cxnLst/>
              <a:rect r="r" b="b" t="t" l="l"/>
              <a:pathLst>
                <a:path h="1523674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77192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56484" y="3652118"/>
            <a:ext cx="5174084" cy="5785201"/>
            <a:chOff x="0" y="0"/>
            <a:chExt cx="1362722" cy="15236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2722" cy="1523674"/>
            </a:xfrm>
            <a:custGeom>
              <a:avLst/>
              <a:gdLst/>
              <a:ahLst/>
              <a:cxnLst/>
              <a:rect r="r" b="b" t="t" l="l"/>
              <a:pathLst>
                <a:path h="1523674" w="1362722">
                  <a:moveTo>
                    <a:pt x="0" y="0"/>
                  </a:moveTo>
                  <a:lnTo>
                    <a:pt x="1362722" y="0"/>
                  </a:lnTo>
                  <a:lnTo>
                    <a:pt x="1362722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62722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11642" y="3652118"/>
            <a:ext cx="5021304" cy="5785201"/>
            <a:chOff x="0" y="0"/>
            <a:chExt cx="1322483" cy="15236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2483" cy="1523674"/>
            </a:xfrm>
            <a:custGeom>
              <a:avLst/>
              <a:gdLst/>
              <a:ahLst/>
              <a:cxnLst/>
              <a:rect r="r" b="b" t="t" l="l"/>
              <a:pathLst>
                <a:path h="1523674" w="1322483">
                  <a:moveTo>
                    <a:pt x="0" y="0"/>
                  </a:moveTo>
                  <a:lnTo>
                    <a:pt x="1322483" y="0"/>
                  </a:lnTo>
                  <a:lnTo>
                    <a:pt x="1322483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22483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841" y="269794"/>
            <a:ext cx="6294398" cy="160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 EXPLORATION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841" y="2009419"/>
            <a:ext cx="5537057" cy="3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0841" y="2066569"/>
            <a:ext cx="5537057" cy="140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3566" spc="35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THE SATELLITES ALREADY SEE IT. BUT THE DATA IS NOT BEING PUT TO USE TO SAVE LIVES.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" y="361401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THE STATUS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05240" y="361401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THE GAP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52918" y="361401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THE SOURCES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6261" y="4392698"/>
            <a:ext cx="4797904" cy="512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5562" indent="-287781" lvl="1">
              <a:lnSpc>
                <a:spcPts val="3732"/>
              </a:lnSpc>
              <a:buFont typeface="Arial"/>
              <a:buChar char="•"/>
            </a:pPr>
            <a:r>
              <a:rPr lang="en-US" sz="2665" spc="26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India logged over 200,000 forest fire alerts in the 2024 season.</a:t>
            </a:r>
          </a:p>
          <a:p>
            <a:pPr algn="l" marL="575562" indent="-287781" lvl="1">
              <a:lnSpc>
                <a:spcPts val="3732"/>
              </a:lnSpc>
              <a:buFont typeface="Arial"/>
              <a:buChar char="•"/>
            </a:pPr>
            <a:r>
              <a:rPr lang="en-US" sz="2665" spc="26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As of now we are able to detect the fires , however this information has not been able to reach the citizens and authorities.</a:t>
            </a:r>
          </a:p>
          <a:p>
            <a:pPr algn="l" marL="575562" indent="-287781" lvl="1">
              <a:lnSpc>
                <a:spcPts val="3732"/>
              </a:lnSpc>
              <a:buFont typeface="Arial"/>
              <a:buChar char="•"/>
            </a:pPr>
            <a:r>
              <a:rPr lang="en-US" sz="2665" spc="26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The last mile is yet to be covered and there is enough room.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32664" y="4392698"/>
            <a:ext cx="4797904" cy="533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Residents don't know which shelter is still safe, or which road just closed</a:t>
            </a:r>
          </a:p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Advisories are written by hand, in English, and arrive late</a:t>
            </a:r>
          </a:p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Officials allocate ambulances and fire units without a ranked view of who's most at risk</a:t>
            </a:r>
          </a:p>
          <a:p>
            <a:pPr algn="l">
              <a:lnSpc>
                <a:spcPts val="3872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023343" y="4392698"/>
            <a:ext cx="4797904" cy="533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NASA FIRMS provide active fire detection data</a:t>
            </a:r>
          </a:p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Wind and weather data is measurable and can be seen in our model. Data received from  various official resources.</a:t>
            </a:r>
          </a:p>
          <a:p>
            <a:pPr algn="l" marL="597152" indent="-298576" lvl="1">
              <a:lnSpc>
                <a:spcPts val="3872"/>
              </a:lnSpc>
              <a:buFont typeface="Arial"/>
              <a:buChar char="•"/>
            </a:pPr>
            <a:r>
              <a:rPr lang="en-US" sz="2765" spc="27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Topology, maps and sheltered zones tracked using world street map.org.</a:t>
            </a:r>
          </a:p>
          <a:p>
            <a:pPr algn="l">
              <a:lnSpc>
                <a:spcPts val="38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841" y="269794"/>
            <a:ext cx="6294398" cy="83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WHAT WE BUILT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841" y="1261819"/>
            <a:ext cx="5556452" cy="220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867" spc="28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A BROWSER-BASED WILDFIRE EVACUATION PLANNER THAT TURNS A FIRE DETECTION INTO A DECISION — WHICH SHELTER, WHICH ROAD, WHICH ZONE FIRST — FOR OFFICIALS AND RESIDENTS, IN ENGLISH AND HINDI.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41830" y="3652118"/>
            <a:ext cx="5229027" cy="5785201"/>
            <a:chOff x="0" y="0"/>
            <a:chExt cx="1377192" cy="1523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7192" cy="1523674"/>
            </a:xfrm>
            <a:custGeom>
              <a:avLst/>
              <a:gdLst/>
              <a:ahLst/>
              <a:cxnLst/>
              <a:rect r="r" b="b" t="t" l="l"/>
              <a:pathLst>
                <a:path h="1523674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77192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65650" y="3652118"/>
            <a:ext cx="5483891" cy="5785201"/>
            <a:chOff x="0" y="0"/>
            <a:chExt cx="1444317" cy="15236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4317" cy="1523674"/>
            </a:xfrm>
            <a:custGeom>
              <a:avLst/>
              <a:gdLst/>
              <a:ahLst/>
              <a:cxnLst/>
              <a:rect r="r" b="b" t="t" l="l"/>
              <a:pathLst>
                <a:path h="1523674" w="1444317">
                  <a:moveTo>
                    <a:pt x="0" y="0"/>
                  </a:moveTo>
                  <a:lnTo>
                    <a:pt x="1444317" y="0"/>
                  </a:lnTo>
                  <a:lnTo>
                    <a:pt x="1444317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44317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29486" y="3652118"/>
            <a:ext cx="5229027" cy="5785201"/>
            <a:chOff x="0" y="0"/>
            <a:chExt cx="1377192" cy="15236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7192" cy="1523674"/>
            </a:xfrm>
            <a:custGeom>
              <a:avLst/>
              <a:gdLst/>
              <a:ahLst/>
              <a:cxnLst/>
              <a:rect r="r" b="b" t="t" l="l"/>
              <a:pathLst>
                <a:path h="1523674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1523674"/>
                  </a:lnTo>
                  <a:lnTo>
                    <a:pt x="0" y="1523674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77192" cy="1571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" y="361401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HOW IT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19760" y="361401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THREE MODES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65650" y="3655593"/>
            <a:ext cx="5738754" cy="66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4"/>
              </a:lnSpc>
            </a:pPr>
            <a:r>
              <a:rPr lang="en-US" b="true" sz="51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WHAT'S ON THE MAP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5907" y="4322711"/>
            <a:ext cx="5045229" cy="519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873" indent="-247936" lvl="1">
              <a:lnSpc>
                <a:spcPts val="3215"/>
              </a:lnSpc>
              <a:buFont typeface="Arial"/>
              <a:buChar char="•"/>
            </a:pPr>
            <a:r>
              <a:rPr lang="en-US" sz="2296" spc="2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Detect — a fire location, wind vector and terrain profile set the starting state</a:t>
            </a:r>
          </a:p>
          <a:p>
            <a:pPr algn="l" marL="495873" indent="-247936" lvl="1">
              <a:lnSpc>
                <a:spcPts val="3215"/>
              </a:lnSpc>
              <a:buFont typeface="Arial"/>
              <a:buChar char="•"/>
            </a:pPr>
            <a:r>
              <a:rPr lang="en-US" sz="2296" spc="2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Project — graded danger bands at 70%, 40% and 15% probability, six hours forward, updating hourly</a:t>
            </a:r>
          </a:p>
          <a:p>
            <a:pPr algn="l" marL="495873" indent="-247936" lvl="1">
              <a:lnSpc>
                <a:spcPts val="3215"/>
              </a:lnSpc>
              <a:buFont typeface="Arial"/>
              <a:buChar char="•"/>
            </a:pPr>
            <a:r>
              <a:rPr lang="en-US" sz="2296" spc="2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Decide — shelters and checkpoints tested against those bands; safe shelters ranked, routes drawn avoiding the fire path</a:t>
            </a:r>
          </a:p>
          <a:p>
            <a:pPr algn="l" marL="495873" indent="-247936" lvl="1">
              <a:lnSpc>
                <a:spcPts val="3215"/>
              </a:lnSpc>
              <a:buFont typeface="Arial"/>
              <a:buChar char="•"/>
            </a:pPr>
            <a:r>
              <a:rPr lang="en-US" sz="2296" spc="2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Broadcast — a bilingual advisory generated for the current hour</a:t>
            </a:r>
          </a:p>
          <a:p>
            <a:pPr algn="l">
              <a:lnSpc>
                <a:spcPts val="321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505240" y="4313186"/>
            <a:ext cx="5045229" cy="513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409" indent="-312705" lvl="1">
              <a:lnSpc>
                <a:spcPts val="4055"/>
              </a:lnSpc>
              <a:buFont typeface="Arial"/>
              <a:buChar char="•"/>
            </a:pPr>
            <a:r>
              <a:rPr lang="en-US" sz="2896" spc="28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Simulation — six-hour forecast replayed in eight seconds</a:t>
            </a:r>
          </a:p>
          <a:p>
            <a:pPr algn="l" marL="625409" indent="-312705" lvl="1">
              <a:lnSpc>
                <a:spcPts val="4055"/>
              </a:lnSpc>
              <a:buFont typeface="Arial"/>
              <a:buChar char="•"/>
            </a:pPr>
            <a:r>
              <a:rPr lang="en-US" sz="2896" spc="28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Find shelter — ranked nearest-safe-first, with live capacity and occupancy</a:t>
            </a:r>
          </a:p>
          <a:p>
            <a:pPr algn="l" marL="625409" indent="-312705" lvl="1">
              <a:lnSpc>
                <a:spcPts val="4055"/>
              </a:lnSpc>
              <a:buFont typeface="Arial"/>
              <a:buChar char="•"/>
            </a:pPr>
            <a:r>
              <a:rPr lang="en-US" sz="2896" spc="28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Briefing — one-glance responder summary of every hazard and closure</a:t>
            </a:r>
          </a:p>
          <a:p>
            <a:pPr algn="l">
              <a:lnSpc>
                <a:spcPts val="405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377639" y="4291196"/>
            <a:ext cx="5045229" cy="46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5"/>
              </a:lnSpc>
            </a:pPr>
            <a:r>
              <a:rPr lang="en-US" sz="3296" spc="3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Spread bands · smoke plume · shelters · evacuation routes · road closures · critical infrastructure · population zones</a:t>
            </a:r>
          </a:p>
          <a:p>
            <a:pPr algn="l">
              <a:lnSpc>
                <a:spcPts val="4615"/>
              </a:lnSpc>
            </a:pPr>
            <a:r>
              <a:rPr lang="en-US" sz="3296" spc="3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All toggleable. Click anywhere for a risk score at that point.</a:t>
            </a:r>
          </a:p>
          <a:p>
            <a:pPr algn="l">
              <a:lnSpc>
                <a:spcPts val="4615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643448" y="1312893"/>
            <a:ext cx="10106093" cy="105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74"/>
              </a:lnSpc>
            </a:pPr>
            <a:r>
              <a:rPr lang="en-US" b="true" sz="3124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GITHUB-HTTPS://GITHUB.COM/SHAURYA-WEB548/AGNIPATH</a:t>
            </a:r>
          </a:p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b="true" sz="2972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WEBSITE LINK-HTTPS://SHAURYA-WEB548.GITHUB.IO/AGNIPATH/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731" y="2613438"/>
            <a:ext cx="7637937" cy="3387469"/>
          </a:xfrm>
          <a:custGeom>
            <a:avLst/>
            <a:gdLst/>
            <a:ahLst/>
            <a:cxnLst/>
            <a:rect r="r" b="b" t="t" l="l"/>
            <a:pathLst>
              <a:path h="3387469" w="7637937">
                <a:moveTo>
                  <a:pt x="0" y="0"/>
                </a:moveTo>
                <a:lnTo>
                  <a:pt x="7637937" y="0"/>
                </a:lnTo>
                <a:lnTo>
                  <a:pt x="7637937" y="3387469"/>
                </a:lnTo>
                <a:lnTo>
                  <a:pt x="0" y="3387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7" r="0" b="-11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546763"/>
            <a:ext cx="7736910" cy="3520819"/>
          </a:xfrm>
          <a:custGeom>
            <a:avLst/>
            <a:gdLst/>
            <a:ahLst/>
            <a:cxnLst/>
            <a:rect r="r" b="b" t="t" l="l"/>
            <a:pathLst>
              <a:path h="3520819" w="7736910">
                <a:moveTo>
                  <a:pt x="0" y="0"/>
                </a:moveTo>
                <a:lnTo>
                  <a:pt x="7736910" y="0"/>
                </a:lnTo>
                <a:lnTo>
                  <a:pt x="7736910" y="3520819"/>
                </a:lnTo>
                <a:lnTo>
                  <a:pt x="0" y="3520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1859" y="6413320"/>
            <a:ext cx="5376131" cy="3569957"/>
          </a:xfrm>
          <a:custGeom>
            <a:avLst/>
            <a:gdLst/>
            <a:ahLst/>
            <a:cxnLst/>
            <a:rect r="r" b="b" t="t" l="l"/>
            <a:pathLst>
              <a:path h="3569957" w="5376131">
                <a:moveTo>
                  <a:pt x="0" y="0"/>
                </a:moveTo>
                <a:lnTo>
                  <a:pt x="5376131" y="0"/>
                </a:lnTo>
                <a:lnTo>
                  <a:pt x="5376131" y="3569958"/>
                </a:lnTo>
                <a:lnTo>
                  <a:pt x="0" y="3569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05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73483" y="6413320"/>
            <a:ext cx="7607427" cy="3421844"/>
          </a:xfrm>
          <a:custGeom>
            <a:avLst/>
            <a:gdLst/>
            <a:ahLst/>
            <a:cxnLst/>
            <a:rect r="r" b="b" t="t" l="l"/>
            <a:pathLst>
              <a:path h="3421844" w="7607427">
                <a:moveTo>
                  <a:pt x="0" y="0"/>
                </a:moveTo>
                <a:lnTo>
                  <a:pt x="7607427" y="0"/>
                </a:lnTo>
                <a:lnTo>
                  <a:pt x="7607427" y="3421845"/>
                </a:lnTo>
                <a:lnTo>
                  <a:pt x="0" y="34218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5" r="0" b="-86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0841" y="269794"/>
            <a:ext cx="6294398" cy="160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PROTOTYPE ELABORATION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0841" y="2013394"/>
            <a:ext cx="6294398" cy="46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3067" spc="30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SIX HOURS, REPLAYED IN EIGHT SECONDS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86521" y="3630320"/>
            <a:ext cx="4206854" cy="3665829"/>
          </a:xfrm>
          <a:custGeom>
            <a:avLst/>
            <a:gdLst/>
            <a:ahLst/>
            <a:cxnLst/>
            <a:rect r="r" b="b" t="t" l="l"/>
            <a:pathLst>
              <a:path h="3665829" w="4206854">
                <a:moveTo>
                  <a:pt x="0" y="0"/>
                </a:moveTo>
                <a:lnTo>
                  <a:pt x="4206854" y="0"/>
                </a:lnTo>
                <a:lnTo>
                  <a:pt x="4206854" y="3665828"/>
                </a:lnTo>
                <a:lnTo>
                  <a:pt x="0" y="3665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09" t="-13242" r="-31925" b="-1368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841" y="269794"/>
            <a:ext cx="6294398" cy="83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WHO USES 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841" y="1104572"/>
            <a:ext cx="6294398" cy="84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3067" spc="30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AN INTERFACE FOR RESIDENTS AND AUTHORITIES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4863" y="2121463"/>
            <a:ext cx="5229027" cy="7315856"/>
            <a:chOff x="0" y="0"/>
            <a:chExt cx="1377192" cy="1926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7192" cy="1926810"/>
            </a:xfrm>
            <a:custGeom>
              <a:avLst/>
              <a:gdLst/>
              <a:ahLst/>
              <a:cxnLst/>
              <a:rect r="r" b="b" t="t" l="l"/>
              <a:pathLst>
                <a:path h="1926810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1926810"/>
                  </a:lnTo>
                  <a:lnTo>
                    <a:pt x="0" y="1926810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77192" cy="197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22107" y="2121463"/>
            <a:ext cx="5229027" cy="7315856"/>
            <a:chOff x="0" y="0"/>
            <a:chExt cx="1377192" cy="1926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7192" cy="1926810"/>
            </a:xfrm>
            <a:custGeom>
              <a:avLst/>
              <a:gdLst/>
              <a:ahLst/>
              <a:cxnLst/>
              <a:rect r="r" b="b" t="t" l="l"/>
              <a:pathLst>
                <a:path h="1926810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1926810"/>
                  </a:lnTo>
                  <a:lnTo>
                    <a:pt x="0" y="1926810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77192" cy="197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0" y="226433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USER MODE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6762" y="2973031"/>
            <a:ext cx="5045229" cy="603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No login, no install. Any browser, including a low-end phone.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Ranked shelters, nearest safe first — with distance, capacity and occupancy. Re-ranks the moment one becomes unsafe.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An evacuation route drawn to avoid the projected fire path.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English and हिन्दी, rewritten every hour.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Helplines on screen: 112 · 101 · 108 · 1070</a:t>
            </a:r>
          </a:p>
          <a:p>
            <a:pPr algn="l">
              <a:lnSpc>
                <a:spcPts val="447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467244" y="2435788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AUTHORITIES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4007" y="3144481"/>
            <a:ext cx="5045229" cy="673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Resource orders. The ranking becomes instructions: pre-position fire units on the downwind flank, move ambulances to shelters about to fall inside the danger zone, staff closing checkpoints.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What-if planning. Wind, bearing, temperature and humidity are live sliders — the bands, every ETA and the whole ranking recompute immediately.</a:t>
            </a:r>
          </a:p>
          <a:p>
            <a:pPr algn="l">
              <a:lnSpc>
                <a:spcPts val="3635"/>
              </a:lnSpc>
            </a:pPr>
            <a:r>
              <a:rPr lang="en-US" sz="2596" spc="25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Command authority. Force-open or force-close any shelter or checkpoint. The override always beats the model.</a:t>
            </a:r>
          </a:p>
          <a:p>
            <a:pPr algn="l">
              <a:lnSpc>
                <a:spcPts val="265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929898" y="2606334"/>
            <a:ext cx="6294398" cy="46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3067" spc="30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WHAT YOU SEE AS YOU ENTER: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594" y="2195490"/>
            <a:ext cx="7555577" cy="5285413"/>
            <a:chOff x="0" y="0"/>
            <a:chExt cx="1989946" cy="1392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9946" cy="1392043"/>
            </a:xfrm>
            <a:custGeom>
              <a:avLst/>
              <a:gdLst/>
              <a:ahLst/>
              <a:cxnLst/>
              <a:rect r="r" b="b" t="t" l="l"/>
              <a:pathLst>
                <a:path h="1392043" w="1989946">
                  <a:moveTo>
                    <a:pt x="0" y="0"/>
                  </a:moveTo>
                  <a:lnTo>
                    <a:pt x="1989946" y="0"/>
                  </a:lnTo>
                  <a:lnTo>
                    <a:pt x="1989946" y="1392043"/>
                  </a:lnTo>
                  <a:lnTo>
                    <a:pt x="0" y="1392043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89946" cy="1439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49810" y="2195490"/>
            <a:ext cx="7690198" cy="5285413"/>
            <a:chOff x="0" y="0"/>
            <a:chExt cx="2025402" cy="13920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5402" cy="1392043"/>
            </a:xfrm>
            <a:custGeom>
              <a:avLst/>
              <a:gdLst/>
              <a:ahLst/>
              <a:cxnLst/>
              <a:rect r="r" b="b" t="t" l="l"/>
              <a:pathLst>
                <a:path h="1392043" w="2025402">
                  <a:moveTo>
                    <a:pt x="0" y="0"/>
                  </a:moveTo>
                  <a:lnTo>
                    <a:pt x="2025402" y="0"/>
                  </a:lnTo>
                  <a:lnTo>
                    <a:pt x="2025402" y="1392043"/>
                  </a:lnTo>
                  <a:lnTo>
                    <a:pt x="0" y="1392043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25402" cy="1439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015416" y="8168965"/>
            <a:ext cx="11561153" cy="1481525"/>
            <a:chOff x="0" y="0"/>
            <a:chExt cx="3044913" cy="390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4913" cy="390196"/>
            </a:xfrm>
            <a:custGeom>
              <a:avLst/>
              <a:gdLst/>
              <a:ahLst/>
              <a:cxnLst/>
              <a:rect r="r" b="b" t="t" l="l"/>
              <a:pathLst>
                <a:path h="390196" w="3044913">
                  <a:moveTo>
                    <a:pt x="0" y="0"/>
                  </a:moveTo>
                  <a:lnTo>
                    <a:pt x="3044913" y="0"/>
                  </a:lnTo>
                  <a:lnTo>
                    <a:pt x="3044913" y="390196"/>
                  </a:lnTo>
                  <a:lnTo>
                    <a:pt x="0" y="390196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044913" cy="437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2994672"/>
            <a:ext cx="6869299" cy="4297656"/>
          </a:xfrm>
          <a:custGeom>
            <a:avLst/>
            <a:gdLst/>
            <a:ahLst/>
            <a:cxnLst/>
            <a:rect r="r" b="b" t="t" l="l"/>
            <a:pathLst>
              <a:path h="4297656" w="6869299">
                <a:moveTo>
                  <a:pt x="0" y="0"/>
                </a:moveTo>
                <a:lnTo>
                  <a:pt x="6869299" y="0"/>
                </a:lnTo>
                <a:lnTo>
                  <a:pt x="6869299" y="4297656"/>
                </a:lnTo>
                <a:lnTo>
                  <a:pt x="0" y="4297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51258" y="8222917"/>
            <a:ext cx="9172988" cy="1373620"/>
          </a:xfrm>
          <a:custGeom>
            <a:avLst/>
            <a:gdLst/>
            <a:ahLst/>
            <a:cxnLst/>
            <a:rect r="r" b="b" t="t" l="l"/>
            <a:pathLst>
              <a:path h="1373620" w="9172988">
                <a:moveTo>
                  <a:pt x="0" y="0"/>
                </a:moveTo>
                <a:lnTo>
                  <a:pt x="9172988" y="0"/>
                </a:lnTo>
                <a:lnTo>
                  <a:pt x="9172988" y="1373620"/>
                </a:lnTo>
                <a:lnTo>
                  <a:pt x="0" y="1373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0841" y="269794"/>
            <a:ext cx="6294398" cy="83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HOW ITS BUILT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841" y="1104572"/>
            <a:ext cx="6294398" cy="46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3067" spc="30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TECH STACK AND FEASIBILITY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5930" y="2338365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TECH 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47723" y="2228830"/>
            <a:ext cx="5738754" cy="765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8"/>
              </a:lnSpc>
            </a:pPr>
            <a:r>
              <a:rPr lang="en-US" b="true" sz="5987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FEASIBILITY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4899" y="3098320"/>
            <a:ext cx="6884401" cy="44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spc="21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Nothing on screen needs a network. Every dataset ships with the build; map tiles cache after one load. A disaster tool that needs connectivity fails exactly when it's needed.</a:t>
            </a:r>
          </a:p>
          <a:p>
            <a:pPr algn="l">
              <a:lnSpc>
                <a:spcPts val="2965"/>
              </a:lnSpc>
            </a:pPr>
            <a:r>
              <a:rPr lang="en-US" sz="2118" spc="21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The AI layer can't break it. The advisory endpoint always returns success. On any error or timeout, the deterministic advisory stays and a grey dot shows the live layer is inactive.</a:t>
            </a:r>
          </a:p>
          <a:p>
            <a:pPr algn="l">
              <a:lnSpc>
                <a:spcPts val="2965"/>
              </a:lnSpc>
            </a:pPr>
            <a:r>
              <a:rPr lang="en-US" sz="2118" spc="21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One source of truth. Shelter and road status is computed once per hour and consumed identically by the map, the stats, the banners and the resident view — no two surfaces can disagree.</a:t>
            </a:r>
          </a:p>
          <a:p>
            <a:pPr algn="l">
              <a:lnSpc>
                <a:spcPts val="2965"/>
              </a:lnSpc>
            </a:pPr>
            <a:r>
              <a:rPr lang="en-US" sz="2118" spc="21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Cost to operate: zero. Deployable by any district administration without procurement.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029389" y="8739140"/>
            <a:ext cx="4105295" cy="41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b="true" sz="3283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HONEST LIMITATIONS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841" y="269794"/>
            <a:ext cx="6294398" cy="160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7"/>
              </a:lnSpc>
            </a:pP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</a:t>
            </a:r>
            <a:r>
              <a:rPr lang="en-US" b="true" sz="656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HAT MAKES IT DIFFERENT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841" y="1876097"/>
            <a:ext cx="6294398" cy="84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3067" spc="30">
                <a:solidFill>
                  <a:srgbClr val="FF6B35"/>
                </a:solidFill>
                <a:latin typeface="ITC Franklin Gothic LT Condensed"/>
                <a:ea typeface="ITC Franklin Gothic LT Condensed"/>
                <a:cs typeface="ITC Franklin Gothic LT Condensed"/>
                <a:sym typeface="ITC Franklin Gothic LT Condensed"/>
              </a:rPr>
              <a:t>MOST TOOLS PREDICT. OURS DECIDES — AND LETS A HUMAN OVERRULE IT.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34531" y="281374"/>
            <a:ext cx="8634249" cy="2197169"/>
            <a:chOff x="0" y="0"/>
            <a:chExt cx="2274041" cy="578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4041" cy="578678"/>
            </a:xfrm>
            <a:custGeom>
              <a:avLst/>
              <a:gdLst/>
              <a:ahLst/>
              <a:cxnLst/>
              <a:rect r="r" b="b" t="t" l="l"/>
              <a:pathLst>
                <a:path h="578678" w="2274041">
                  <a:moveTo>
                    <a:pt x="0" y="0"/>
                  </a:moveTo>
                  <a:lnTo>
                    <a:pt x="2274041" y="0"/>
                  </a:lnTo>
                  <a:lnTo>
                    <a:pt x="2274041" y="578678"/>
                  </a:lnTo>
                  <a:lnTo>
                    <a:pt x="0" y="578678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74041" cy="626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09487" y="357574"/>
            <a:ext cx="9221772" cy="42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b="true" sz="333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THE MODEL ADVISES. THE COMMANDER DECIDES.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09487" y="738696"/>
            <a:ext cx="8136450" cy="162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318" spc="23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No district magistrate acts on a student's algorithm. So authority overrides always beat the model — and the override reaches every resident's screen in the same frame it's made. Comparable tools present a forecast and stop there.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93777" y="3736720"/>
            <a:ext cx="5229027" cy="3458652"/>
            <a:chOff x="0" y="0"/>
            <a:chExt cx="1377192" cy="910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7192" cy="910921"/>
            </a:xfrm>
            <a:custGeom>
              <a:avLst/>
              <a:gdLst/>
              <a:ahLst/>
              <a:cxnLst/>
              <a:rect r="r" b="b" t="t" l="l"/>
              <a:pathLst>
                <a:path h="910921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910921"/>
                  </a:lnTo>
                  <a:lnTo>
                    <a:pt x="0" y="910921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77192" cy="95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23371" y="3736720"/>
            <a:ext cx="5229027" cy="3458652"/>
            <a:chOff x="0" y="0"/>
            <a:chExt cx="1377192" cy="910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7192" cy="910921"/>
            </a:xfrm>
            <a:custGeom>
              <a:avLst/>
              <a:gdLst/>
              <a:ahLst/>
              <a:cxnLst/>
              <a:rect r="r" b="b" t="t" l="l"/>
              <a:pathLst>
                <a:path h="910921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910921"/>
                  </a:lnTo>
                  <a:lnTo>
                    <a:pt x="0" y="910921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77192" cy="95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85744" y="3809640"/>
            <a:ext cx="5229027" cy="3385731"/>
            <a:chOff x="0" y="0"/>
            <a:chExt cx="1377192" cy="8917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7192" cy="891715"/>
            </a:xfrm>
            <a:custGeom>
              <a:avLst/>
              <a:gdLst/>
              <a:ahLst/>
              <a:cxnLst/>
              <a:rect r="r" b="b" t="t" l="l"/>
              <a:pathLst>
                <a:path h="891715" w="1377192">
                  <a:moveTo>
                    <a:pt x="0" y="0"/>
                  </a:moveTo>
                  <a:lnTo>
                    <a:pt x="1377192" y="0"/>
                  </a:lnTo>
                  <a:lnTo>
                    <a:pt x="1377192" y="891715"/>
                  </a:lnTo>
                  <a:lnTo>
                    <a:pt x="0" y="891715"/>
                  </a:lnTo>
                  <a:close/>
                </a:path>
              </a:pathLst>
            </a:custGeom>
            <a:solidFill>
              <a:srgbClr val="17171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77192" cy="939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8913" y="3803395"/>
            <a:ext cx="522519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b="true" sz="300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UNCERTAINTY IS SHOWN, NOT HIDDEN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31404" y="3803395"/>
            <a:ext cx="5225193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b="true" sz="300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TRIAGE, NOT HAZARD MAPPING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61471" y="3803395"/>
            <a:ext cx="5225193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b="true" sz="3000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BUILT FOR THE PEOPLE AFFECTED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4971" y="4496815"/>
            <a:ext cx="5207833" cy="272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218" spc="22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Three graded probability bands instead of one confident line. A confidence figure that decays with the forecast horizon — 88% falling to 62% over six hours. A permanent on-screen statement of what the model is and isn't. An evacuation tool that overstates its certainty is worse than none.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75666" y="4496815"/>
            <a:ext cx="5207833" cy="25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 spc="24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 hazard map tells you where the fire goes. AgniPath ranks who to move first by risk × population, and turns that ranking into resource orders — which shelter to clear, where to send the ambulance, which flank to hold.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50274" y="4496815"/>
            <a:ext cx="5207833" cy="25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 spc="24">
                <a:solidFill>
                  <a:srgbClr val="F0F0F2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Bilingual by default, not a settings toggle. No login, no install, no smartphone assumption beyond a browser. Real national helplines on screen. Runs offline after first load, at zero operating cost — deployable without procurement.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76905" y="7890954"/>
            <a:ext cx="7974751" cy="161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b="true" sz="4456">
                <a:gradFill>
                  <a:gsLst>
                    <a:gs pos="0">
                      <a:srgbClr val="F9F2BC">
                        <a:alpha val="100000"/>
                      </a:srgbClr>
                    </a:gs>
                    <a:gs pos="100000">
                      <a:srgbClr val="CBA462">
                        <a:alpha val="100000"/>
                      </a:srgbClr>
                    </a:gs>
                  </a:gsLst>
                  <a:lin ang="5400000"/>
                </a:gra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THE FORECAST ALREADY EXISTS. WE BUILT HOW IT CAN BE PUT TO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DAHScKWy0bI</dc:identifier>
  <dcterms:modified xsi:type="dcterms:W3CDTF">2011-08-01T06:04:30Z</dcterms:modified>
  <cp:revision>1</cp:revision>
  <dc:title>kathon</dc:title>
</cp:coreProperties>
</file>